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Social media (64.7%)</c:v>
                  </c:pt>
                  <c:pt idx="1">
                    <c:v>Word of mouth (58.8%)</c:v>
                  </c:pt>
                  <c:pt idx="2">
                    <c:v>Google search (29.4%)</c:v>
                  </c:pt>
                  <c:pt idx="3">
                    <c:v>Local council (29.4%)</c:v>
                  </c:pt>
                  <c:pt idx="4">
                    <c:v>Didn't find any (11.8%)</c:v>
                  </c:pt>
                  <c:pt idx="5">
                    <c:v>Email / poster (5.9%)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64.7</c:v>
                </c:pt>
                <c:pt idx="1">
                  <c:v>58.8</c:v>
                </c:pt>
                <c:pt idx="2">
                  <c:v>29.4</c:v>
                </c:pt>
                <c:pt idx="3">
                  <c:v>29.4</c:v>
                </c:pt>
                <c:pt idx="4">
                  <c:v>11.8</c:v>
                </c:pt>
                <c:pt idx="5">
                  <c:v>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E2D3F5">
              <a:alpha val="75000"/>
            </a:srgbClr>
          </a:solidFill>
          <a:ln w="12700">
            <a:solidFill>
              <a:srgbClr val="E2D3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914400"/>
            <a:ext cx="2560320" cy="2560320"/>
          </a:xfrm>
          <a:prstGeom prst="ellipse">
            <a:avLst/>
          </a:prstGeom>
          <a:solidFill>
            <a:srgbClr val="C8EDD8">
              <a:alpha val="80000"/>
            </a:srgbClr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474720"/>
            <a:ext cx="2286000" cy="2286000"/>
          </a:xfrm>
          <a:prstGeom prst="ellipse">
            <a:avLst/>
          </a:prstGeom>
          <a:solidFill>
            <a:srgbClr val="FFD9BE">
              <a:alpha val="65000"/>
            </a:srgbClr>
          </a:solidFill>
          <a:ln w="12700">
            <a:solidFill>
              <a:srgbClr val="FFD9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</a:t>
            </a:r>
            <a:pPr indent="0" marL="0">
              <a:buNone/>
            </a:pPr>
            <a:r>
              <a:rPr lang="en-US" sz="6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786384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29968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Visualisation for Social Integration in a New City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706624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EAF8F0"/>
          </a:solidFill>
          <a:ln w="15240">
            <a:solidFill>
              <a:srgbClr val="C8E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066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COMP/INFS 532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0" y="2706624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F3EEFF"/>
          </a:solidFill>
          <a:ln w="15240">
            <a:solidFill>
              <a:srgbClr val="E2D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066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Project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83480" y="2706624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FFF1E6"/>
          </a:solidFill>
          <a:ln w="15240">
            <a:solidFill>
              <a:srgbClr val="FFD9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7066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Yanming Shao</a:t>
            </a:r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1682278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822192"/>
            <a:ext cx="2834640" cy="420624"/>
          </a:xfrm>
          <a:prstGeom prst="roundRect">
            <a:avLst>
              <a:gd name="adj" fmla="val 21739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27000" dist="25400" dir="8700000">
              <a:srgbClr val="A0AEC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8221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menhulu.github.io/LocalIn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2700">
            <a:solidFill>
              <a:srgbClr val="E2D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6400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Story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— I arrived in Hamilton, New Zealand.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298448"/>
            <a:ext cx="425196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12700" dir="8700000">
              <a:srgbClr val="A0AEC0">
                <a:alpha val="10000"/>
              </a:srgbClr>
            </a:outerShdw>
          </a:effectLst>
        </p:spPr>
      </p:sp>
      <p:pic>
        <p:nvPicPr>
          <p:cNvPr id="7" name="Image 0" descr="/sessions/sleepy-dazzling-ritchie/mnt/LocalIn/info_overload_fem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335024"/>
            <a:ext cx="4133088" cy="3584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45152" y="1298448"/>
            <a:ext cx="425196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E8ECF0"/>
            </a:solidFill>
            <a:prstDash val="solid"/>
          </a:ln>
          <a:effectLst>
            <a:outerShdw sx="100000" sy="100000" kx="0" ky="0" algn="bl" rotWithShape="0" blurRad="806450000" dist="161290000" dir="522000000000">
              <a:srgbClr val="A0AEC0">
                <a:alpha val="10000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28032" y="144475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OVERLOAD PROBLEM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28032" y="1901952"/>
            <a:ext cx="388620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arrived in a city like Hamilton, I faced a significant challenge in discovering local activities and connecting with people.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was severely fragmented across disparate channels: WeChat groups for the Chinese community were hard to track; university activities via email and posters were easy to miss; and local community events on Facebook, Instagram, and Eventbrite offered no clear discovery signals.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diagram illustrates the overwhelming and uncoordinated nature of that experience.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01168" y="5047488"/>
            <a:ext cx="8741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— I arrived in Hamilton, New Zealand.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011680"/>
            <a:ext cx="4572000" cy="4572000"/>
          </a:xfrm>
          <a:prstGeom prst="ellipse">
            <a:avLst/>
          </a:prstGeom>
          <a:solidFill>
            <a:srgbClr val="C8EDD8">
              <a:alpha val="70000"/>
            </a:srgbClr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I ran a survey.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designing anything, I asked 17 newcomers in New Zealand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their experience finding and joining community activities.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8EDD8"/>
            </a:solidFill>
            <a:prstDash val="solid"/>
          </a:ln>
          <a:effectLst>
            <a:outerShdw sx="100000" sy="100000" kx="0" ky="0" algn="bl" rotWithShape="0" blurRad="1612900000" dist="322580000" dir="522000000000">
              <a:srgbClr val="A0AEC0">
                <a:alpha val="12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93392"/>
            <a:ext cx="251460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1993392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8EDD8"/>
            </a:solidFill>
            <a:prstDash val="solid"/>
          </a:ln>
          <a:effectLst>
            <a:outerShdw sx="100000" sy="100000" kx="0" ky="0" algn="bl" rotWithShape="0" blurRad="20483830000000" dist="4096766000000" dir="31320000000000000">
              <a:srgbClr val="A0AEC0">
                <a:alpha val="120000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993392"/>
            <a:ext cx="251460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21031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227832" y="3154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52744" y="1993392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8EDD8"/>
            </a:solidFill>
            <a:prstDash val="solid"/>
          </a:ln>
          <a:effectLst>
            <a:outerShdw sx="100000" sy="100000" kx="0" ky="0" algn="bl" rotWithShape="0" blurRad="260144641000000000" dist="52028928200000000" dir="1.8792e+21">
              <a:srgbClr val="A0AEC0">
                <a:alpha val="12000000000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52744" y="1993392"/>
            <a:ext cx="251460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10312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5952744" y="3154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986784"/>
            <a:ext cx="804672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867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 ·  India  ·  Indonesia  ·  Malaysia  ·  Mongolia  ·  Nepal  ·  Sri Lanka  ·  Bangladesh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55371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6-question survey — Google Forms — May–June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D6F0E6"/>
          </a:solidFill>
          <a:ln w="12700">
            <a:solidFill>
              <a:srgbClr val="D6F0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15568"/>
            <a:ext cx="9144000" cy="0"/>
          </a:xfrm>
          <a:prstGeom prst="line">
            <a:avLst/>
          </a:prstGeom>
          <a:noFill/>
          <a:ln w="12700">
            <a:solidFill>
              <a:srgbClr val="C8ED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newcomers  ·  6 questions  ·  Hamilton, New Zealand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43584"/>
            <a:ext cx="2816352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5240">
            <a:solidFill>
              <a:srgbClr val="C8EDD8"/>
            </a:solidFill>
            <a:prstDash val="solid"/>
          </a:ln>
          <a:effectLst>
            <a:outerShdw sx="100000" sy="100000" kx="0" ky="0" algn="bl" rotWithShape="0" blurRad="10241915000000" dist="2048383000000" dir="31320000000000000">
              <a:srgbClr val="A0AEC0">
                <a:alpha val="1000000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316736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94.1%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20624" y="2048256"/>
            <a:ext cx="2487168" cy="0"/>
          </a:xfrm>
          <a:prstGeom prst="line">
            <a:avLst/>
          </a:prstGeom>
          <a:noFill/>
          <a:ln w="7620">
            <a:solidFill>
              <a:srgbClr val="C8E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103120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an event simply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didn't know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existed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18688" y="1243584"/>
            <a:ext cx="2816352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5240">
            <a:solidFill>
              <a:srgbClr val="E2D3F5"/>
            </a:solidFill>
            <a:prstDash val="solid"/>
          </a:ln>
          <a:effectLst>
            <a:outerShdw sx="100000" sy="100000" kx="0" ky="0" algn="bl" rotWithShape="0" blurRad="130072320500000000" dist="26014464100000000" dir="1.8792e+21">
              <a:srgbClr val="A0AEC0">
                <a:alpha val="100000000000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18688" y="1316736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8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82.3%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3383280" y="2048256"/>
            <a:ext cx="2487168" cy="0"/>
          </a:xfrm>
          <a:prstGeom prst="line">
            <a:avLst/>
          </a:prstGeom>
          <a:noFill/>
          <a:ln w="7620">
            <a:solidFill>
              <a:srgbClr val="E2D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2103120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a map platform would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useful when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first arrived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243584"/>
            <a:ext cx="2816352" cy="1719072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5240">
            <a:solidFill>
              <a:srgbClr val="FFD9BE"/>
            </a:solidFill>
            <a:prstDash val="solid"/>
          </a:ln>
          <a:effectLst>
            <a:outerShdw sx="100000" sy="100000" kx="0" ky="0" algn="bl" rotWithShape="0" blurRad="1.65191847035e+21" dist="330383694070000000000" dir="1.12752e+26">
              <a:srgbClr val="A0AEC0">
                <a:alpha val="1e+2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81344" y="1316736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9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82.3%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6345936" y="2048256"/>
            <a:ext cx="2487168" cy="0"/>
          </a:xfrm>
          <a:prstGeom prst="line">
            <a:avLst/>
          </a:prstGeom>
          <a:noFill/>
          <a:ln w="7620">
            <a:solidFill>
              <a:srgbClr val="FFD9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03120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hesitated to go to 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alone — even when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knew about 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" y="3072384"/>
            <a:ext cx="4206240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C6DFF8"/>
            </a:solidFill>
            <a:prstDash val="solid"/>
          </a:ln>
          <a:effectLst>
            <a:outerShdw sx="100000" sy="100000" kx="0" ky="0" algn="bl" rotWithShape="0" blurRad="2.0979364573445003e+25" dist="4.195872914689e+24" dir="6.76512e+30">
              <a:srgbClr val="A0AEC0">
                <a:alpha val="1e+2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31455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A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 channels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20624" y="3712464"/>
            <a:ext cx="3877056" cy="0"/>
          </a:xfrm>
          <a:prstGeom prst="line">
            <a:avLst/>
          </a:prstGeom>
          <a:noFill/>
          <a:ln w="7620">
            <a:solidFill>
              <a:srgbClr val="C6DF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767328"/>
            <a:ext cx="3877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mouth, social media, Google — yet people still miss events. No single source is enough.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36592" y="3072384"/>
            <a:ext cx="4206240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E2D3F5"/>
            </a:solidFill>
            <a:prstDash val="solid"/>
          </a:ln>
          <a:effectLst>
            <a:outerShdw sx="100000" sy="100000" kx="0" ky="0" algn="bl" rotWithShape="0" blurRad="2.6643793008275154e+29" dist="5.3287586016550295e+28" dir="4.059072e+35">
              <a:srgbClr val="A0AEC0">
                <a:alpha val="1e+3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36592" y="31455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52.9%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4901184" y="3712464"/>
            <a:ext cx="3877056" cy="0"/>
          </a:xfrm>
          <a:prstGeom prst="line">
            <a:avLst/>
          </a:prstGeom>
          <a:noFill/>
          <a:ln w="7620">
            <a:solidFill>
              <a:srgbClr val="E2D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3767328"/>
            <a:ext cx="3877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from China — their main channel is WeChat, which can't be searched or discovered by outsiders.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" y="4700016"/>
            <a:ext cx="8631936" cy="329184"/>
          </a:xfrm>
          <a:prstGeom prst="roundRect">
            <a:avLst>
              <a:gd name="adj" fmla="val 2222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700016"/>
            <a:ext cx="8631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LocalIn was designed to solve exactly this — one map, every event, zero channels to juggle.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FFBEA"/>
          </a:solidFill>
          <a:ln w="12700">
            <a:solidFill>
              <a:srgbClr val="FFFB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2700">
            <a:solidFill>
              <a:srgbClr val="FAE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4B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is fragmented and unreliable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246120" cy="3401568"/>
          </a:xfrm>
          <a:prstGeom prst="roundRect">
            <a:avLst>
              <a:gd name="adj" fmla="val 3944"/>
            </a:avLst>
          </a:prstGeom>
          <a:solidFill>
            <a:srgbClr val="FFFBEA"/>
          </a:solidFill>
          <a:ln w="15240">
            <a:solidFill>
              <a:srgbClr val="FAE9A0"/>
            </a:solidFill>
            <a:prstDash val="solid"/>
          </a:ln>
          <a:effectLst>
            <a:outerShdw sx="100000" sy="100000" kx="0" ky="0" algn="bl" rotWithShape="0" blurRad="3.3038369407e+21" dist="660767388140000000000" dir="1.12752e+26">
              <a:srgbClr val="A0AEC0">
                <a:alpha val="1.2e+2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324612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How easy to find activities?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52.9%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8529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difficulty 3 /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(moderate, even after weeks of trying)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493008"/>
            <a:ext cx="2834640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478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B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23.5% found it easy (1/5)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2971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Scattered: WeChat · Email · Facebook · Posters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137160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How did you mainly find out about local activities?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0" y="1783080"/>
          <a:ext cx="5074920" cy="29900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FF0F4"/>
          </a:solidFill>
          <a:ln w="12700">
            <a:solidFill>
              <a:srgbClr val="FFF0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2700">
            <a:solidFill>
              <a:srgbClr val="F5CF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#2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Newcomers miss events — and hesitate to go alone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761488" cy="3401568"/>
          </a:xfrm>
          <a:prstGeom prst="roundRect">
            <a:avLst>
              <a:gd name="adj" fmla="val 4636"/>
            </a:avLst>
          </a:prstGeom>
          <a:solidFill>
            <a:srgbClr val="FFFFFF"/>
          </a:solidFill>
          <a:ln w="15240">
            <a:solidFill>
              <a:srgbClr val="F5CFD9"/>
            </a:solidFill>
            <a:prstDash val="solid"/>
          </a:ln>
          <a:effectLst>
            <a:outerShdw sx="100000" sy="100000" kx="0" ky="0" algn="bl" rotWithShape="0" blurRad="3.3837617120509443e+33" dist="6.767523424101888e+32" dir="2.4354432e+40">
              <a:srgbClr val="A0AEC0">
                <a:alpha val="1e+3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53312"/>
            <a:ext cx="2761488" cy="54864"/>
          </a:xfrm>
          <a:prstGeom prst="rect">
            <a:avLst/>
          </a:prstGeom>
          <a:solidFill>
            <a:srgbClr val="D87098"/>
          </a:solidFill>
          <a:ln w="12700">
            <a:solidFill>
              <a:srgbClr val="D870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48132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FF0F4"/>
          </a:solidFill>
          <a:ln w="10160">
            <a:solidFill>
              <a:srgbClr val="F5C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182880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870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94.1%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84632" y="2834640"/>
            <a:ext cx="242316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 community event because they didn't know it existed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4408" y="1353312"/>
            <a:ext cx="2761488" cy="3401568"/>
          </a:xfrm>
          <a:prstGeom prst="roundRect">
            <a:avLst>
              <a:gd name="adj" fmla="val 4636"/>
            </a:avLst>
          </a:prstGeom>
          <a:solidFill>
            <a:srgbClr val="FFFFFF"/>
          </a:solidFill>
          <a:ln w="15240">
            <a:solidFill>
              <a:srgbClr val="E2D3F5"/>
            </a:solidFill>
            <a:prstDash val="solid"/>
          </a:ln>
          <a:effectLst>
            <a:outerShdw sx="100000" sy="100000" kx="0" ky="0" algn="bl" rotWithShape="0" blurRad="4.297377374304699e+37" dist="8.594754748609397e+36" dir="1.4612659200000002e+45">
              <a:srgbClr val="A0AEC0">
                <a:alpha val="9.999999999999999e+4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53312"/>
            <a:ext cx="2761488" cy="54864"/>
          </a:xfrm>
          <a:prstGeom prst="rect">
            <a:avLst/>
          </a:prstGeom>
          <a:solidFill>
            <a:srgbClr val="A880D8"/>
          </a:solidFill>
          <a:ln w="12700">
            <a:solidFill>
              <a:srgbClr val="A88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48132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F3EEFF"/>
          </a:solidFill>
          <a:ln w="10160">
            <a:solidFill>
              <a:srgbClr val="E2D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74136" y="182880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88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52.9%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3429000" y="2834640"/>
            <a:ext cx="242316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hesitated to attend because they didn't know anyone going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08776" y="1353312"/>
            <a:ext cx="2761488" cy="3401568"/>
          </a:xfrm>
          <a:prstGeom prst="roundRect">
            <a:avLst>
              <a:gd name="adj" fmla="val 4636"/>
            </a:avLst>
          </a:prstGeom>
          <a:solidFill>
            <a:srgbClr val="FFFFFF"/>
          </a:solidFill>
          <a:ln w="15240">
            <a:solidFill>
              <a:srgbClr val="C6DFF8"/>
            </a:solidFill>
            <a:prstDash val="solid"/>
          </a:ln>
          <a:effectLst>
            <a:outerShdw sx="100000" sy="100000" kx="0" ky="0" algn="bl" rotWithShape="0" blurRad="5.457669265366968e+41" dist="1.0915338530733935e+41" dir="8.767595520000001e+49">
              <a:srgbClr val="A0AEC0">
                <a:alpha val="1e+4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353312"/>
            <a:ext cx="2761488" cy="54864"/>
          </a:xfrm>
          <a:prstGeom prst="rect">
            <a:avLst/>
          </a:prstGeom>
          <a:solidFill>
            <a:srgbClr val="6AAEE4"/>
          </a:solidFill>
          <a:ln w="12700">
            <a:solidFill>
              <a:srgbClr val="6AA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1481328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EBF4FF"/>
          </a:solidFill>
          <a:ln w="10160">
            <a:solidFill>
              <a:srgbClr val="C6DF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4813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18504" y="182880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AA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82.4%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373368" y="2834640"/>
            <a:ext cx="2423160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socially isolated sometimes or often in first 3 months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560320"/>
            <a:ext cx="4389120" cy="4389120"/>
          </a:xfrm>
          <a:prstGeom prst="ellipse">
            <a:avLst/>
          </a:prstGeom>
          <a:solidFill>
            <a:srgbClr val="C8EDD8">
              <a:alpha val="75000"/>
            </a:srgbClr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DF7F0"/>
          </a:solidFill>
          <a:ln w="12700">
            <a:solidFill>
              <a:srgbClr val="EDF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2700">
            <a:solidFill>
              <a:srgbClr val="C9E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47548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is clear demand for a unified platform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a single platform showing activities, community hotspots, and social connections on a map have been useful when you first arrived?"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AF8F0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2322576"/>
            <a:ext cx="5943600" cy="201168"/>
          </a:xfrm>
          <a:prstGeom prst="roundRect">
            <a:avLst>
              <a:gd name="adj" fmla="val 18182"/>
            </a:avLst>
          </a:prstGeom>
          <a:solidFill>
            <a:srgbClr val="E8ECF0">
              <a:alpha val="70000"/>
            </a:srgbClr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322576"/>
            <a:ext cx="3494837" cy="201168"/>
          </a:xfrm>
          <a:prstGeom prst="roundRect">
            <a:avLst>
              <a:gd name="adj" fmla="val 18182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71109" y="2240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62072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DF7F0"/>
          </a:solidFill>
          <a:ln w="12700">
            <a:solidFill>
              <a:srgbClr val="C9E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62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2944368"/>
            <a:ext cx="5943600" cy="201168"/>
          </a:xfrm>
          <a:prstGeom prst="roundRect">
            <a:avLst>
              <a:gd name="adj" fmla="val 18182"/>
            </a:avLst>
          </a:prstGeom>
          <a:solidFill>
            <a:srgbClr val="E8ECF0">
              <a:alpha val="70000"/>
            </a:srgbClr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944368"/>
            <a:ext cx="1396746" cy="201168"/>
          </a:xfrm>
          <a:prstGeom prst="roundRect">
            <a:avLst>
              <a:gd name="adj" fmla="val 18182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3018" y="28620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483864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838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03120" y="3566160"/>
            <a:ext cx="5943600" cy="201168"/>
          </a:xfrm>
          <a:prstGeom prst="roundRect">
            <a:avLst>
              <a:gd name="adj" fmla="val 18182"/>
            </a:avLst>
          </a:prstGeom>
          <a:solidFill>
            <a:srgbClr val="E8ECF0">
              <a:alpha val="70000"/>
            </a:srgbClr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3566160"/>
            <a:ext cx="701345" cy="201168"/>
          </a:xfrm>
          <a:prstGeom prst="roundRect">
            <a:avLst>
              <a:gd name="adj" fmla="val 18182"/>
            </a:avLst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7617" y="34838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105656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FAFB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056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not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03120" y="4187952"/>
            <a:ext cx="5943600" cy="201168"/>
          </a:xfrm>
          <a:prstGeom prst="roundRect">
            <a:avLst>
              <a:gd name="adj" fmla="val 18182"/>
            </a:avLst>
          </a:prstGeom>
          <a:solidFill>
            <a:srgbClr val="E8ECF0">
              <a:alpha val="70000"/>
            </a:srgbClr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4187952"/>
            <a:ext cx="350672" cy="201168"/>
          </a:xfrm>
          <a:prstGeom prst="roundRect">
            <a:avLst>
              <a:gd name="adj" fmla="val 18182"/>
            </a:avLst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944" y="41056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61772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EAF8F0"/>
          </a:solidFill>
          <a:ln w="15240">
            <a:solidFill>
              <a:srgbClr val="C8E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177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 said Definitely or Probably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AF8F0"/>
          </a:solidFill>
          <a:ln w="12700">
            <a:solidFill>
              <a:srgbClr val="EAF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2700">
            <a:solidFill>
              <a:srgbClr val="C8ED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LocalIn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prototype combining geographic discovery, temporal analysis, and social network tracking — all in one integrated tool.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651760" cy="1499616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C8EDD8"/>
            </a:solidFill>
            <a:prstDash val="solid"/>
          </a:ln>
          <a:effectLst>
            <a:outerShdw sx="100000" sy="100000" kx="0" ky="0" algn="bl" rotWithShape="0" blurRad="6.93123996701605e+45" dist="1.3862479934032098e+45" dir="5.2605573120000005e+54">
              <a:srgbClr val="A0AEC0">
                <a:alpha val="9.999999999999999e+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1499616"/>
            <a:ext cx="347472" cy="347472"/>
          </a:xfrm>
          <a:prstGeom prst="ellipse">
            <a:avLst/>
          </a:prstGeom>
          <a:solidFill>
            <a:srgbClr val="EAF8F0"/>
          </a:solidFill>
          <a:ln w="15240">
            <a:solidFill>
              <a:srgbClr val="C8E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996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" y="1901952"/>
            <a:ext cx="2340864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956816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pins, category &amp; newcomer filters, click for details. Cross-view linked.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353312"/>
            <a:ext cx="2651760" cy="1499616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C6DFF8"/>
            </a:solidFill>
            <a:prstDash val="solid"/>
          </a:ln>
          <a:effectLst>
            <a:outerShdw sx="100000" sy="100000" kx="0" ky="0" algn="bl" rotWithShape="0" blurRad="8.802674758110384e+49" dist="1.7605349516220764e+49" dir="3.1563343872000004e+59">
              <a:srgbClr val="A0AEC0">
                <a:alpha val="9.999999999999999e+5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499616"/>
            <a:ext cx="347472" cy="347472"/>
          </a:xfrm>
          <a:prstGeom prst="ellipse">
            <a:avLst/>
          </a:prstGeom>
          <a:solidFill>
            <a:srgbClr val="EBF4FF"/>
          </a:solidFill>
          <a:ln w="15240">
            <a:solidFill>
              <a:srgbClr val="C6DF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58768" y="14996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Calendar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10712" y="1901952"/>
            <a:ext cx="2340864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956816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calendar showing activity peaks. Seasonal trend chart for the full year.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08776" y="1353312"/>
            <a:ext cx="2651760" cy="1499616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E2D3F5"/>
            </a:solidFill>
            <a:prstDash val="solid"/>
          </a:ln>
          <a:effectLst>
            <a:outerShdw sx="100000" sy="100000" kx="0" ky="0" algn="bl" rotWithShape="0" blurRad="1.1179396942800187e+54" dist="2.235879388560037e+53" dir="1.8938006323200002e+64">
              <a:srgbClr val="A0AEC0">
                <a:alpha val="9.999999999999999e+6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499616"/>
            <a:ext cx="347472" cy="347472"/>
          </a:xfrm>
          <a:prstGeom prst="ellipse">
            <a:avLst/>
          </a:prstGeom>
          <a:solidFill>
            <a:srgbClr val="F3EEFF"/>
          </a:solidFill>
          <a:ln w="15240">
            <a:solidFill>
              <a:srgbClr val="E2D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03136" y="14996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 Graph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1901952"/>
            <a:ext cx="2340864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956816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force-directed graph. Week 1 to 6 journey shows your growing connections.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035808"/>
            <a:ext cx="4160520" cy="1499616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FD9BE"/>
            </a:solidFill>
            <a:prstDash val="solid"/>
          </a:ln>
          <a:effectLst>
            <a:outerShdw sx="100000" sy="100000" kx="0" ky="0" algn="bl" rotWithShape="0" blurRad="1.419783411735624e+58" dist="2.839566823471247e+57" dir="1.136280379392e+69">
              <a:srgbClr val="A0AEC0">
                <a:alpha val="9.999999999999999e+68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" y="3182112"/>
            <a:ext cx="347472" cy="347472"/>
          </a:xfrm>
          <a:prstGeom prst="ellipse">
            <a:avLst/>
          </a:prstGeom>
          <a:solidFill>
            <a:srgbClr val="FFF1E6"/>
          </a:solidFill>
          <a:ln w="15240">
            <a:solidFill>
              <a:srgbClr val="FFD9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182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Dashboard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" y="3584448"/>
            <a:ext cx="3877056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" y="3639312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tracker: days in city, activities, connections, integration score. Radar chart + progress bar.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035808"/>
            <a:ext cx="4160520" cy="1499616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5CFD9"/>
            </a:solidFill>
            <a:prstDash val="solid"/>
          </a:ln>
          <a:effectLst>
            <a:outerShdw sx="100000" sy="100000" kx="0" ky="0" algn="bl" rotWithShape="0" blurRad="1.8031249329042424e+62" dist="3.606249865808484e+61" dir="6.817682276352e+73">
              <a:srgbClr val="A0AEC0">
                <a:alpha val="9.999999999999998e+73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38344" y="3182112"/>
            <a:ext cx="347472" cy="347472"/>
          </a:xfrm>
          <a:prstGeom prst="ellipse">
            <a:avLst/>
          </a:prstGeom>
          <a:solidFill>
            <a:srgbClr val="FFF0F4"/>
          </a:solidFill>
          <a:ln w="15240">
            <a:solidFill>
              <a:srgbClr val="F5CF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38344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3182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Activity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38344" y="3584448"/>
            <a:ext cx="3877056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38344" y="3639312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events as gold pins on the map. Your activity appears in the shared feed.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2700">
            <a:solidFill>
              <a:srgbClr val="C6DF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 Zealand data — collected and verified from public sources.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649224"/>
          </a:xfrm>
          <a:prstGeom prst="rect">
            <a:avLst/>
          </a:prstGeom>
          <a:solidFill>
            <a:srgbClr val="FAFB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EBF4FF"/>
          </a:solidFill>
          <a:ln w="15240">
            <a:solidFill>
              <a:srgbClr val="C6DF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34416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Event &amp; Council Pages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164592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City Council, Auckland Council Welcoming Communities, Waikato Regional Council. Cross-referenced.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36992" y="149047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BF4FF"/>
          </a:solidFill>
          <a:ln w="12700">
            <a:solidFill>
              <a:srgbClr val="C6DF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4904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020824"/>
            <a:ext cx="850392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85416"/>
            <a:ext cx="320040" cy="320040"/>
          </a:xfrm>
          <a:prstGeom prst="ellipse">
            <a:avLst/>
          </a:prstGeom>
          <a:solidFill>
            <a:srgbClr val="EAF8F0"/>
          </a:solidFill>
          <a:ln w="15240">
            <a:solidFill>
              <a:srgbClr val="C8E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85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206654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Parkrun NZ (parkrun.org.nz)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6112" y="23682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locations and schedules for Hamilton Lake, Auckland, Wellington, Rotorua, Dunedin. 5 routes confirmed.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36992" y="2212848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EAF8F0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22128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8503920" cy="649224"/>
          </a:xfrm>
          <a:prstGeom prst="rect">
            <a:avLst/>
          </a:prstGeom>
          <a:solidFill>
            <a:srgbClr val="FAFB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07792"/>
            <a:ext cx="320040" cy="320040"/>
          </a:xfrm>
          <a:prstGeom prst="ellipse">
            <a:avLst/>
          </a:prstGeom>
          <a:solidFill>
            <a:srgbClr val="F3EEFF"/>
          </a:solidFill>
          <a:ln w="15240">
            <a:solidFill>
              <a:srgbClr val="E2D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112" y="27889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&amp; Newcomer Organisations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6112" y="309067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Multicultural Centre, UoW International Student Association, Auckland Welcoming Communities.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36992" y="2935224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F3EEFF"/>
          </a:solidFill>
          <a:ln w="12700">
            <a:solidFill>
              <a:srgbClr val="E2D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29352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465576"/>
            <a:ext cx="850392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630168"/>
            <a:ext cx="320040" cy="320040"/>
          </a:xfrm>
          <a:prstGeom prst="ellipse">
            <a:avLst/>
          </a:prstGeom>
          <a:solidFill>
            <a:srgbClr val="FFF1E6"/>
          </a:solidFill>
          <a:ln w="15240">
            <a:solidFill>
              <a:srgbClr val="FFD9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30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6112" y="351129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Dataset — 50 Activities, 7 Cities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96112" y="381304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· Auckland · Wellington · Christchurch · Tauranga · Rotorua · Dunedin. Population-proportional.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36992" y="3657600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FFF1E6"/>
          </a:solidFill>
          <a:ln w="12700">
            <a:solidFill>
              <a:srgbClr val="FFD9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3657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Cities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4187952"/>
            <a:ext cx="8503920" cy="649224"/>
          </a:xfrm>
          <a:prstGeom prst="rect">
            <a:avLst/>
          </a:prstGeom>
          <a:solidFill>
            <a:srgbClr val="FAFBFC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352544"/>
            <a:ext cx="320040" cy="320040"/>
          </a:xfrm>
          <a:prstGeom prst="ellipse">
            <a:avLst/>
          </a:prstGeom>
          <a:solidFill>
            <a:srgbClr val="FFF0F4"/>
          </a:solidFill>
          <a:ln w="15240">
            <a:solidFill>
              <a:srgbClr val="F5C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52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6112" y="423367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Survey — n=17 (Primary Research)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96112" y="45354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survey, May–June 2026. International students and recent migrants. Full instrument in appendix.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36992" y="4379976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FFF0F4"/>
          </a:solidFill>
          <a:ln w="12700">
            <a:solidFill>
              <a:srgbClr val="F5CF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36992" y="43799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2700">
            <a:solidFill>
              <a:srgbClr val="E2D3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Rationale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answers a specific question a newcomer would ask.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850392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C8EDD8"/>
            </a:solidFill>
            <a:prstDash val="solid"/>
          </a:ln>
          <a:effectLst>
            <a:outerShdw sx="100000" sy="100000" kx="0" ky="0" algn="bl" rotWithShape="0" blurRad="2.289968664788388e+66" dist="4.579937329576775e+65" dir="4.0906093658112005e+78">
              <a:srgbClr val="A0AEC0">
                <a:alpha val="9.999999999999998e+7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54864" cy="8503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63624"/>
            <a:ext cx="320040" cy="32004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63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3441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34416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happening near me right now?"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7190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Newcomers don't know the city — geographic context is essential. Leaflet clustering prevents clutter. Colour-coding enables instant category recognition. Cross-view linking makes it a central lens for all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221992"/>
            <a:ext cx="850392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C6DFF8"/>
            </a:solidFill>
            <a:prstDash val="solid"/>
          </a:ln>
          <a:effectLst>
            <a:outerShdw sx="100000" sy="100000" kx="0" ky="0" algn="bl" rotWithShape="0" blurRad="2.908260204281253e+70" dist="5.816520408562504e+69" dir="2.45436561948672e+83">
              <a:srgbClr val="A0AEC0">
                <a:alpha val="9.999999999999998e+8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21992"/>
            <a:ext cx="54864" cy="850392"/>
          </a:xfrm>
          <a:prstGeom prst="rect">
            <a:avLst/>
          </a:prstGeom>
          <a:solidFill>
            <a:srgbClr val="6AAEE4"/>
          </a:solidFill>
          <a:ln w="12700">
            <a:solidFill>
              <a:srgbClr val="6AAE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87168"/>
            <a:ext cx="320040" cy="320040"/>
          </a:xfrm>
          <a:prstGeom prst="ellipse">
            <a:avLst/>
          </a:prstGeom>
          <a:solidFill>
            <a:srgbClr val="EBF4FF"/>
          </a:solidFill>
          <a:ln w="12700">
            <a:solidFill>
              <a:srgbClr val="C6DF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2677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Calendar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22677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are things busiest? What time of year should I plan?"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426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a dimension most event finders ignore. The calendar heatmap (inspired by GitHub contributions) makes weekly patterns instantly visible. Click a cell to filter the map.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145536"/>
            <a:ext cx="850392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E2D3F5"/>
            </a:solidFill>
            <a:prstDash val="solid"/>
          </a:ln>
          <a:effectLst>
            <a:outerShdw sx="100000" sy="100000" kx="0" ky="0" algn="bl" rotWithShape="0" blurRad="3.693490459437191e+74" dist="7.38698091887438e+73" dir="1.4726193716920321e+88">
              <a:srgbClr val="A0AEC0">
                <a:alpha val="9.999999999999999e+88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45536"/>
            <a:ext cx="54864" cy="850392"/>
          </a:xfrm>
          <a:prstGeom prst="rect">
            <a:avLst/>
          </a:prstGeom>
          <a:solidFill>
            <a:srgbClr val="A880D8"/>
          </a:solidFill>
          <a:ln w="12700">
            <a:solidFill>
              <a:srgbClr val="A880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10712"/>
            <a:ext cx="320040" cy="320040"/>
          </a:xfrm>
          <a:prstGeom prst="ellipse">
            <a:avLst/>
          </a:prstGeom>
          <a:solidFill>
            <a:srgbClr val="F3EEFF"/>
          </a:solidFill>
          <a:ln w="12700">
            <a:solidFill>
              <a:srgbClr val="E2D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410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19125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3191256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have I met, and how is my social circle growing?"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5661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force-directed graph is the only layout that reveals structural relationships. Journey weeks (1/3/6) create a temporal narrative — the project's core thesis made visual.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069080"/>
            <a:ext cx="850392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FFD9BE"/>
            </a:solidFill>
            <a:prstDash val="solid"/>
          </a:ln>
          <a:effectLst>
            <a:outerShdw sx="100000" sy="100000" kx="0" ky="0" algn="bl" rotWithShape="0" blurRad="4.690732883485232e+78" dist="9.381465766970462e+77" dir="8.835716230152193e+92">
              <a:srgbClr val="A0AEC0">
                <a:alpha val="9.999999999999998e+93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069080"/>
            <a:ext cx="54864" cy="850392"/>
          </a:xfrm>
          <a:prstGeom prst="rect">
            <a:avLst/>
          </a:prstGeom>
          <a:solidFill>
            <a:srgbClr val="E8966A"/>
          </a:solidFill>
          <a:ln w="12700">
            <a:solidFill>
              <a:srgbClr val="E896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34256"/>
            <a:ext cx="320040" cy="320040"/>
          </a:xfrm>
          <a:prstGeom prst="ellipse">
            <a:avLst/>
          </a:prstGeom>
          <a:solidFill>
            <a:srgbClr val="FFF1E6"/>
          </a:solidFill>
          <a:ln w="12700">
            <a:solidFill>
              <a:srgbClr val="FFD9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34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08960" y="41148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 I making progress? How do I compare to other newcomers?"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448970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+ category bars give comparative context. Integration score synthesises multiple signals into one number — meaningful progress feedback in a single glance.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0"/>
            <a:ext cx="9144000" cy="0"/>
          </a:xfrm>
          <a:prstGeom prst="line">
            <a:avLst/>
          </a:prstGeom>
          <a:noFill/>
          <a:ln w="12700">
            <a:solidFill>
              <a:srgbClr val="FFD9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LocalIn Different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35024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AFBFC"/>
          </a:solidFill>
          <a:ln w="15240">
            <a:solidFill>
              <a:srgbClr val="C8EDD8"/>
            </a:solidFill>
            <a:prstDash val="solid"/>
          </a:ln>
          <a:effectLst>
            <a:outerShdw sx="100000" sy="100000" kx="0" ky="0" algn="bl" rotWithShape="0" blurRad="5.957230762026245e+82" dist="1.1914461524052487e+82" dir="5.301429738091316e+97">
              <a:srgbClr val="A0AEC0">
                <a:alpha val="9.999999999999998e+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35024"/>
            <a:ext cx="54864" cy="11155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463040"/>
            <a:ext cx="320040" cy="32004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Cross-View Linking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828800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cell or network node drives the map filter instantly — coordinated multiple views.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335024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AFBFC"/>
          </a:solidFill>
          <a:ln w="15240">
            <a:solidFill>
              <a:srgbClr val="C6DFF8"/>
            </a:solidFill>
            <a:prstDash val="solid"/>
          </a:ln>
          <a:effectLst>
            <a:outerShdw sx="100000" sy="100000" kx="0" ky="0" algn="bl" rotWithShape="0" blurRad="7.565683067773332e+86" dist="1.5131366135546659e+86" dir="3.1808578428547896e+102">
              <a:srgbClr val="A0AEC0">
                <a:alpha val="9.999999999999998e+10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35024"/>
            <a:ext cx="54864" cy="1115568"/>
          </a:xfrm>
          <a:prstGeom prst="rect">
            <a:avLst/>
          </a:prstGeom>
          <a:solidFill>
            <a:srgbClr val="6AAEE4"/>
          </a:solidFill>
          <a:ln w="12700">
            <a:solidFill>
              <a:srgbClr val="6AAE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1463040"/>
            <a:ext cx="320040" cy="320040"/>
          </a:xfrm>
          <a:prstGeom prst="ellipse">
            <a:avLst/>
          </a:prstGeom>
          <a:solidFill>
            <a:srgbClr val="EBF4FF"/>
          </a:solidFill>
          <a:ln w="12700">
            <a:solidFill>
              <a:srgbClr val="C6DF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4447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Density Heatmap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828800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overlay answers which neighbourhood is most active. No external library.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AFBFC"/>
          </a:solidFill>
          <a:ln w="15240">
            <a:solidFill>
              <a:srgbClr val="E2D3F5"/>
            </a:solidFill>
            <a:prstDash val="solid"/>
          </a:ln>
          <a:effectLst>
            <a:outerShdw sx="100000" sy="100000" kx="0" ky="0" algn="bl" rotWithShape="0" blurRad="9.608417496072131e+90" dist="1.9216834992144256e+90" dir="1.9085147057128736e+107">
              <a:srgbClr val="A0AEC0">
                <a:alpha val="9.999999999999998e+10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78608"/>
            <a:ext cx="54864" cy="1115568"/>
          </a:xfrm>
          <a:prstGeom prst="rect">
            <a:avLst/>
          </a:prstGeom>
          <a:solidFill>
            <a:srgbClr val="A880D8"/>
          </a:solidFill>
          <a:ln w="12700">
            <a:solidFill>
              <a:srgbClr val="A88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" y="2706624"/>
            <a:ext cx="320040" cy="320040"/>
          </a:xfrm>
          <a:prstGeom prst="ellipse">
            <a:avLst/>
          </a:prstGeom>
          <a:solidFill>
            <a:srgbClr val="F3EEFF"/>
          </a:solidFill>
          <a:ln w="12700">
            <a:solidFill>
              <a:srgbClr val="E2D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6883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Progress Tracker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3072384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banner: days in city, activities, connections, score. Progress made tangible.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578608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AFBFC"/>
          </a:solidFill>
          <a:ln w="15240">
            <a:solidFill>
              <a:srgbClr val="FFD9BE"/>
            </a:solidFill>
            <a:prstDash val="solid"/>
          </a:ln>
          <a:effectLst>
            <a:outerShdw sx="100000" sy="100000" kx="0" ky="0" algn="bl" rotWithShape="0" blurRad="1.2202690220011606e+95" dist="2.4405380440023207e+94" dir="1.1451088234277242e+112">
              <a:srgbClr val="A0AEC0">
                <a:alpha val="9.999999999999997e+113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578608"/>
            <a:ext cx="54864" cy="1115568"/>
          </a:xfrm>
          <a:prstGeom prst="rect">
            <a:avLst/>
          </a:prstGeom>
          <a:solidFill>
            <a:srgbClr val="E8966A"/>
          </a:solidFill>
          <a:ln w="12700">
            <a:solidFill>
              <a:srgbClr val="E896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706624"/>
            <a:ext cx="320040" cy="320040"/>
          </a:xfrm>
          <a:prstGeom prst="ellipse">
            <a:avLst/>
          </a:prstGeom>
          <a:solidFill>
            <a:srgbClr val="FFF1E6"/>
          </a:solidFill>
          <a:ln w="12700">
            <a:solidFill>
              <a:srgbClr val="FFD9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26883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 Activity Posting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3072384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own events as gold pins. Transforms the tool from passive to active.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822192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AFBFC"/>
          </a:solidFill>
          <a:ln w="15240">
            <a:solidFill>
              <a:srgbClr val="F5CFD9"/>
            </a:solidFill>
            <a:prstDash val="solid"/>
          </a:ln>
          <a:effectLst>
            <a:outerShdw sx="100000" sy="100000" kx="0" ky="0" algn="bl" rotWithShape="0" blurRad="1.549741657941474e+99" dist="3.099483315882947e+98" dir="6.870652940566345e+116">
              <a:srgbClr val="A0AEC0">
                <a:alpha val="9.999999999999998e+118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22192"/>
            <a:ext cx="54864" cy="1115568"/>
          </a:xfrm>
          <a:prstGeom prst="rect">
            <a:avLst/>
          </a:prstGeom>
          <a:solidFill>
            <a:srgbClr val="D87098"/>
          </a:solidFill>
          <a:ln w="12700">
            <a:solidFill>
              <a:srgbClr val="D8709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" y="3950208"/>
            <a:ext cx="320040" cy="320040"/>
          </a:xfrm>
          <a:prstGeom prst="ellipse">
            <a:avLst/>
          </a:prstGeom>
          <a:solidFill>
            <a:srgbClr val="FFF0F4"/>
          </a:solidFill>
          <a:ln w="12700">
            <a:solidFill>
              <a:srgbClr val="F5CF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9319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Testing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" y="4315968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sessions with international students (May–June 2026). Findings shaped filters and design.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822192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AFBFC"/>
          </a:solidFill>
          <a:ln w="15240">
            <a:solidFill>
              <a:srgbClr val="C9E8D2"/>
            </a:solidFill>
            <a:prstDash val="solid"/>
          </a:ln>
          <a:effectLst>
            <a:outerShdw sx="100000" sy="100000" kx="0" ky="0" algn="bl" rotWithShape="0" blurRad="1.9681719055856718e+103" dist="3.9363438111713427e+102" dir="4.122391764339807e+121">
              <a:srgbClr val="A0AEC0">
                <a:alpha val="9.999999999999997e+123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822192"/>
            <a:ext cx="54864" cy="11155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950208"/>
            <a:ext cx="320040" cy="320040"/>
          </a:xfrm>
          <a:prstGeom prst="ellipse">
            <a:avLst/>
          </a:prstGeom>
          <a:solidFill>
            <a:srgbClr val="EDF7F0"/>
          </a:solidFill>
          <a:ln w="12700">
            <a:solidFill>
              <a:srgbClr val="C9E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39319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73752" y="4315968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labels, keyboard navigation, skip-nav link, debounced cluster rendering.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286000"/>
            <a:ext cx="4754880" cy="4754880"/>
          </a:xfrm>
          <a:prstGeom prst="ellipse">
            <a:avLst/>
          </a:prstGeom>
          <a:solidFill>
            <a:srgbClr val="C8EDD8">
              <a:alpha val="75000"/>
            </a:srgbClr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FFD9BE">
              <a:alpha val="70000"/>
            </a:srgbClr>
          </a:solidFill>
          <a:ln w="12700">
            <a:solidFill>
              <a:srgbClr val="FFD9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3200400"/>
            <a:ext cx="2743200" cy="2743200"/>
          </a:xfrm>
          <a:prstGeom prst="ellipse">
            <a:avLst/>
          </a:prstGeom>
          <a:solidFill>
            <a:srgbClr val="E2D3F5">
              <a:alpha val="60000"/>
            </a:srgbClr>
          </a:solidFill>
          <a:ln w="12700">
            <a:solidFill>
              <a:srgbClr val="E2D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30352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LocalIn shows that integration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not a feeling — it's a pattern.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13969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that pattern is visible, newcomers can act on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1572768" cy="420624"/>
          </a:xfrm>
          <a:prstGeom prst="roundRect">
            <a:avLst>
              <a:gd name="adj" fmla="val 21739"/>
            </a:avLst>
          </a:prstGeom>
          <a:solidFill>
            <a:srgbClr val="EAF8F0"/>
          </a:solidFill>
          <a:ln w="15240">
            <a:solidFill>
              <a:srgbClr val="C8EDD8"/>
            </a:solidFill>
            <a:prstDash val="solid"/>
          </a:ln>
          <a:effectLst>
            <a:outerShdw sx="100000" sy="100000" kx="0" ky="0" algn="bl" rotWithShape="0" blurRad="2.4995783200938032e+107" dist="4.9991566401876055e+106" dir="2.4734350586038842e+126">
              <a:srgbClr val="A0AEC0">
                <a:alpha val="9.999999999999997e+12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Activities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2816352"/>
            <a:ext cx="1572768" cy="420624"/>
          </a:xfrm>
          <a:prstGeom prst="roundRect">
            <a:avLst>
              <a:gd name="adj" fmla="val 21739"/>
            </a:avLst>
          </a:prstGeom>
          <a:solidFill>
            <a:srgbClr val="EBF4FF"/>
          </a:solidFill>
          <a:ln w="15240">
            <a:solidFill>
              <a:srgbClr val="C6DFF8"/>
            </a:solidFill>
            <a:prstDash val="solid"/>
          </a:ln>
          <a:effectLst>
            <a:outerShdw sx="100000" sy="100000" kx="0" ky="0" algn="bl" rotWithShape="0" blurRad="3.17446446651913e+111" dist="6.348928933038258e+110" dir="1.4840610351623305e+131">
              <a:srgbClr val="A0AEC0">
                <a:alpha val="9.999999999999997e+13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AA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NZ Cities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0" y="2816352"/>
            <a:ext cx="1572768" cy="420624"/>
          </a:xfrm>
          <a:prstGeom prst="roundRect">
            <a:avLst>
              <a:gd name="adj" fmla="val 21739"/>
            </a:avLst>
          </a:prstGeom>
          <a:solidFill>
            <a:srgbClr val="F3EEFF"/>
          </a:solidFill>
          <a:ln w="15240">
            <a:solidFill>
              <a:srgbClr val="E2D3F5"/>
            </a:solidFill>
            <a:prstDash val="solid"/>
          </a:ln>
          <a:effectLst>
            <a:outerShdw sx="100000" sy="100000" kx="0" ky="0" algn="bl" rotWithShape="0" blurRad="4.0315698724792955e+115" dist="8.063139744958588e+114" dir="8.904366210973983e+135">
              <a:srgbClr val="A0AEC0">
                <a:alpha val="9.999999999999998e+138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Linked Views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2816352"/>
            <a:ext cx="1572768" cy="420624"/>
          </a:xfrm>
          <a:prstGeom prst="roundRect">
            <a:avLst>
              <a:gd name="adj" fmla="val 21739"/>
            </a:avLst>
          </a:prstGeom>
          <a:solidFill>
            <a:srgbClr val="FFF1E6"/>
          </a:solidFill>
          <a:ln w="15240">
            <a:solidFill>
              <a:srgbClr val="FFD9BE"/>
            </a:solidFill>
            <a:prstDash val="solid"/>
          </a:ln>
          <a:effectLst>
            <a:outerShdw sx="100000" sy="100000" kx="0" ky="0" algn="bl" rotWithShape="0" blurRad="5.120093738048705e+119" dist="1.0240187476097407e+119" dir="5.34261972658439e+140">
              <a:srgbClr val="A0AEC0">
                <a:alpha val="9.999999999999999e+143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9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Tests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23760" y="2816352"/>
            <a:ext cx="1572768" cy="420624"/>
          </a:xfrm>
          <a:prstGeom prst="roundRect">
            <a:avLst>
              <a:gd name="adj" fmla="val 21739"/>
            </a:avLst>
          </a:prstGeom>
          <a:solidFill>
            <a:srgbClr val="FFF0F4"/>
          </a:solidFill>
          <a:ln w="15240">
            <a:solidFill>
              <a:srgbClr val="F5CFD9"/>
            </a:solidFill>
            <a:prstDash val="solid"/>
          </a:ln>
          <a:effectLst>
            <a:outerShdw sx="100000" sy="100000" kx="0" ky="0" algn="bl" rotWithShape="0" blurRad="6.502519047321855e+123" dist="1.3005038094643706e+123" dir="3.205571835950634e+145">
              <a:srgbClr val="A0AEC0">
                <a:alpha val="9.999999999999998e+148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281635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7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Responses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3108960" y="4297680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4.1958729146890005e+25" dist="8.391745829378e+24" dir="6.76512e+30">
              <a:srgbClr val="A0AEC0">
                <a:alpha val="1.2e+2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08960" y="42976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menhulu.github.io/LocalIn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LocalIn — Social Integration for Newcomers</dc:title>
  <dc:subject>PptxGenJS Presentation</dc:subject>
  <dc:creator>Yanming Shao</dc:creator>
  <cp:lastModifiedBy>Yanming Shao</cp:lastModifiedBy>
  <cp:revision>1</cp:revision>
  <dcterms:created xsi:type="dcterms:W3CDTF">2026-06-08T01:40:20Z</dcterms:created>
  <dcterms:modified xsi:type="dcterms:W3CDTF">2026-06-08T01:40:20Z</dcterms:modified>
</cp:coreProperties>
</file>